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6858000" cy="9144000"/>
  <p:embeddedFontLs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  <p:embeddedFont>
      <p:font typeface="Calibri (MS)" charset="1" panose="020F0502020204030204"/>
      <p:regular r:id="rId12"/>
    </p:embeddedFont>
    <p:embeddedFont>
      <p:font typeface="Calibri (MS) Bold" charset="1" panose="020F07020304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19" Target="../media/image28.svg" Type="http://schemas.openxmlformats.org/officeDocument/2006/relationships/image"/><Relationship Id="rId2" Target="../media/image1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32.png" Type="http://schemas.openxmlformats.org/officeDocument/2006/relationships/image"/><Relationship Id="rId24" Target="../media/image33.png" Type="http://schemas.openxmlformats.org/officeDocument/2006/relationships/image"/><Relationship Id="rId25" Target="../media/image34.png" Type="http://schemas.openxmlformats.org/officeDocument/2006/relationships/image"/><Relationship Id="rId26" Target="../media/image35.svg" Type="http://schemas.openxmlformats.org/officeDocument/2006/relationships/image"/><Relationship Id="rId27" Target="../media/image36.png" Type="http://schemas.openxmlformats.org/officeDocument/2006/relationships/image"/><Relationship Id="rId28" Target="../media/image37.png" Type="http://schemas.openxmlformats.org/officeDocument/2006/relationships/image"/><Relationship Id="rId29" Target="../media/image38.svg" Type="http://schemas.openxmlformats.org/officeDocument/2006/relationships/image"/><Relationship Id="rId3" Target="../media/image12.svg" Type="http://schemas.openxmlformats.org/officeDocument/2006/relationships/image"/><Relationship Id="rId30" Target="../media/image39.svg" Type="http://schemas.openxmlformats.org/officeDocument/2006/relationships/image"/><Relationship Id="rId31" Target="../media/image40.png" Type="http://schemas.openxmlformats.org/officeDocument/2006/relationships/image"/><Relationship Id="rId32" Target="../media/image41.svg" Type="http://schemas.openxmlformats.org/officeDocument/2006/relationships/image"/><Relationship Id="rId33" Target="../media/image42.png" Type="http://schemas.openxmlformats.org/officeDocument/2006/relationships/image"/><Relationship Id="rId34" Target="../media/image43.svg" Type="http://schemas.openxmlformats.org/officeDocument/2006/relationships/image"/><Relationship Id="rId35" Target="../media/image44.svg" Type="http://schemas.openxmlformats.org/officeDocument/2006/relationships/image"/><Relationship Id="rId36" Target="../media/image45.png" Type="http://schemas.openxmlformats.org/officeDocument/2006/relationships/image"/><Relationship Id="rId37" Target="../media/image4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953" y="1067524"/>
            <a:ext cx="8222104" cy="2135400"/>
          </a:xfrm>
          <a:custGeom>
            <a:avLst/>
            <a:gdLst/>
            <a:ahLst/>
            <a:cxnLst/>
            <a:rect r="r" b="b" t="t" l="l"/>
            <a:pathLst>
              <a:path h="2135400" w="8222104">
                <a:moveTo>
                  <a:pt x="0" y="0"/>
                </a:moveTo>
                <a:lnTo>
                  <a:pt x="8222104" y="0"/>
                </a:lnTo>
                <a:lnTo>
                  <a:pt x="8222104" y="2135400"/>
                </a:lnTo>
                <a:lnTo>
                  <a:pt x="0" y="213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2899" y="4182370"/>
            <a:ext cx="1024604" cy="1024623"/>
          </a:xfrm>
          <a:custGeom>
            <a:avLst/>
            <a:gdLst/>
            <a:ahLst/>
            <a:cxnLst/>
            <a:rect r="r" b="b" t="t" l="l"/>
            <a:pathLst>
              <a:path h="1024623" w="1024604">
                <a:moveTo>
                  <a:pt x="0" y="0"/>
                </a:moveTo>
                <a:lnTo>
                  <a:pt x="1024604" y="0"/>
                </a:lnTo>
                <a:lnTo>
                  <a:pt x="1024604" y="1024624"/>
                </a:lnTo>
                <a:lnTo>
                  <a:pt x="0" y="1024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6678" y="1669828"/>
            <a:ext cx="8094488" cy="147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4"/>
              </a:lnSpc>
            </a:pPr>
            <a:r>
              <a:rPr lang="en-US" sz="4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 Compliance Monitoring &amp; Violation Alerting solution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953" y="709746"/>
            <a:ext cx="8222104" cy="3690604"/>
          </a:xfrm>
          <a:custGeom>
            <a:avLst/>
            <a:gdLst/>
            <a:ahLst/>
            <a:cxnLst/>
            <a:rect r="r" b="b" t="t" l="l"/>
            <a:pathLst>
              <a:path h="3690604" w="8222104">
                <a:moveTo>
                  <a:pt x="0" y="0"/>
                </a:moveTo>
                <a:lnTo>
                  <a:pt x="8222104" y="0"/>
                </a:lnTo>
                <a:lnTo>
                  <a:pt x="8222104" y="3690604"/>
                </a:lnTo>
                <a:lnTo>
                  <a:pt x="0" y="3690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6678" y="725329"/>
            <a:ext cx="8089125" cy="367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objective of the MAP monitoring project is to help the manufacturer continuously monitor reseller advertisements at the SKU level and identify pricing violations. </a:t>
            </a:r>
          </a:p>
          <a:p>
            <a:pPr algn="just" rtl="true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solution will integrate manufacturer product data containing MAP and LPP values with reseller and advertised-price data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897" y="738721"/>
            <a:ext cx="8222104" cy="767696"/>
          </a:xfrm>
          <a:custGeom>
            <a:avLst/>
            <a:gdLst/>
            <a:ahLst/>
            <a:cxnLst/>
            <a:rect r="r" b="b" t="t" l="l"/>
            <a:pathLst>
              <a:path h="767696" w="8222104">
                <a:moveTo>
                  <a:pt x="0" y="0"/>
                </a:moveTo>
                <a:lnTo>
                  <a:pt x="8222104" y="0"/>
                </a:lnTo>
                <a:lnTo>
                  <a:pt x="8222104" y="767696"/>
                </a:lnTo>
                <a:lnTo>
                  <a:pt x="0" y="767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1622498"/>
            <a:ext cx="9270997" cy="3584496"/>
          </a:xfrm>
          <a:custGeom>
            <a:avLst/>
            <a:gdLst/>
            <a:ahLst/>
            <a:cxnLst/>
            <a:rect r="r" b="b" t="t" l="l"/>
            <a:pathLst>
              <a:path h="3584496" w="9270997">
                <a:moveTo>
                  <a:pt x="0" y="0"/>
                </a:moveTo>
                <a:lnTo>
                  <a:pt x="9270997" y="0"/>
                </a:lnTo>
                <a:lnTo>
                  <a:pt x="9270997" y="3584496"/>
                </a:lnTo>
                <a:lnTo>
                  <a:pt x="0" y="3584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7622" y="878062"/>
            <a:ext cx="7161800" cy="56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 Project – High-Level Architecture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7622" y="2186407"/>
            <a:ext cx="8022500" cy="21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b="true" sz="2499">
                <a:solidFill>
                  <a:srgbClr val="737373"/>
                </a:solidFill>
                <a:latin typeface="Roboto Bold"/>
                <a:ea typeface="Roboto Bold"/>
                <a:cs typeface="Roboto Bold"/>
                <a:sym typeface="Roboto Bold"/>
              </a:rPr>
              <a:t>Data Sources → Data Collection → </a:t>
            </a:r>
          </a:p>
          <a:p>
            <a:pPr algn="l">
              <a:lnSpc>
                <a:spcPts val="4349"/>
              </a:lnSpc>
            </a:pPr>
            <a:r>
              <a:rPr lang="en-US" b="true" sz="2499">
                <a:solidFill>
                  <a:srgbClr val="737373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&amp; Integration → MAP/LPP Analysis →</a:t>
            </a:r>
          </a:p>
          <a:p>
            <a:pPr algn="l">
              <a:lnSpc>
                <a:spcPts val="4349"/>
              </a:lnSpc>
            </a:pPr>
            <a:r>
              <a:rPr lang="en-US" b="true" sz="2499">
                <a:solidFill>
                  <a:srgbClr val="737373"/>
                </a:solidFill>
                <a:latin typeface="Roboto Bold"/>
                <a:ea typeface="Roboto Bold"/>
                <a:cs typeface="Roboto Bold"/>
                <a:sym typeface="Roboto Bold"/>
              </a:rPr>
              <a:t> Violation Tracking → Email Action →</a:t>
            </a:r>
          </a:p>
          <a:p>
            <a:pPr algn="l">
              <a:lnSpc>
                <a:spcPts val="4349"/>
              </a:lnSpc>
            </a:pPr>
            <a:r>
              <a:rPr lang="en-US" b="true" sz="2499">
                <a:solidFill>
                  <a:srgbClr val="737373"/>
                </a:solidFill>
                <a:latin typeface="Roboto Bold"/>
                <a:ea typeface="Roboto Bold"/>
                <a:cs typeface="Roboto Bold"/>
                <a:sym typeface="Roboto Bold"/>
              </a:rPr>
              <a:t>Excel Reporting → Power BI 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99964" y="2272132"/>
            <a:ext cx="80315" cy="42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73737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9269" y="3103182"/>
            <a:ext cx="602827" cy="191970"/>
          </a:xfrm>
          <a:custGeom>
            <a:avLst/>
            <a:gdLst/>
            <a:ahLst/>
            <a:cxnLst/>
            <a:rect r="r" b="b" t="t" l="l"/>
            <a:pathLst>
              <a:path h="191970" w="602827">
                <a:moveTo>
                  <a:pt x="0" y="0"/>
                </a:moveTo>
                <a:lnTo>
                  <a:pt x="602826" y="0"/>
                </a:lnTo>
                <a:lnTo>
                  <a:pt x="602826" y="191970"/>
                </a:lnTo>
                <a:lnTo>
                  <a:pt x="0" y="19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43432" y="1866793"/>
            <a:ext cx="357084" cy="63904"/>
          </a:xfrm>
          <a:custGeom>
            <a:avLst/>
            <a:gdLst/>
            <a:ahLst/>
            <a:cxnLst/>
            <a:rect r="r" b="b" t="t" l="l"/>
            <a:pathLst>
              <a:path h="63904" w="357084">
                <a:moveTo>
                  <a:pt x="0" y="0"/>
                </a:moveTo>
                <a:lnTo>
                  <a:pt x="357083" y="0"/>
                </a:lnTo>
                <a:lnTo>
                  <a:pt x="357083" y="63904"/>
                </a:lnTo>
                <a:lnTo>
                  <a:pt x="0" y="6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76691" y="3103182"/>
            <a:ext cx="618413" cy="255095"/>
          </a:xfrm>
          <a:custGeom>
            <a:avLst/>
            <a:gdLst/>
            <a:ahLst/>
            <a:cxnLst/>
            <a:rect r="r" b="b" t="t" l="l"/>
            <a:pathLst>
              <a:path h="255095" w="618413">
                <a:moveTo>
                  <a:pt x="0" y="0"/>
                </a:moveTo>
                <a:lnTo>
                  <a:pt x="618413" y="0"/>
                </a:lnTo>
                <a:lnTo>
                  <a:pt x="618413" y="255095"/>
                </a:lnTo>
                <a:lnTo>
                  <a:pt x="0" y="25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95042" y="436905"/>
            <a:ext cx="610464" cy="212691"/>
          </a:xfrm>
          <a:custGeom>
            <a:avLst/>
            <a:gdLst/>
            <a:ahLst/>
            <a:cxnLst/>
            <a:rect r="r" b="b" t="t" l="l"/>
            <a:pathLst>
              <a:path h="212691" w="610464">
                <a:moveTo>
                  <a:pt x="0" y="0"/>
                </a:moveTo>
                <a:lnTo>
                  <a:pt x="610464" y="0"/>
                </a:lnTo>
                <a:lnTo>
                  <a:pt x="610464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1112" y="437879"/>
            <a:ext cx="610464" cy="212691"/>
          </a:xfrm>
          <a:custGeom>
            <a:avLst/>
            <a:gdLst/>
            <a:ahLst/>
            <a:cxnLst/>
            <a:rect r="r" b="b" t="t" l="l"/>
            <a:pathLst>
              <a:path h="212691" w="610464">
                <a:moveTo>
                  <a:pt x="0" y="0"/>
                </a:moveTo>
                <a:lnTo>
                  <a:pt x="610464" y="0"/>
                </a:lnTo>
                <a:lnTo>
                  <a:pt x="610464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3172" y="563739"/>
            <a:ext cx="687422" cy="212691"/>
          </a:xfrm>
          <a:custGeom>
            <a:avLst/>
            <a:gdLst/>
            <a:ahLst/>
            <a:cxnLst/>
            <a:rect r="r" b="b" t="t" l="l"/>
            <a:pathLst>
              <a:path h="212691" w="687422">
                <a:moveTo>
                  <a:pt x="0" y="0"/>
                </a:moveTo>
                <a:lnTo>
                  <a:pt x="687422" y="0"/>
                </a:lnTo>
                <a:lnTo>
                  <a:pt x="687422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40715" y="1024643"/>
            <a:ext cx="687422" cy="212691"/>
          </a:xfrm>
          <a:custGeom>
            <a:avLst/>
            <a:gdLst/>
            <a:ahLst/>
            <a:cxnLst/>
            <a:rect r="r" b="b" t="t" l="l"/>
            <a:pathLst>
              <a:path h="212691" w="687422">
                <a:moveTo>
                  <a:pt x="0" y="0"/>
                </a:moveTo>
                <a:lnTo>
                  <a:pt x="687422" y="0"/>
                </a:lnTo>
                <a:lnTo>
                  <a:pt x="687422" y="212690"/>
                </a:lnTo>
                <a:lnTo>
                  <a:pt x="0" y="2126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90520" y="1032757"/>
            <a:ext cx="610464" cy="198726"/>
          </a:xfrm>
          <a:custGeom>
            <a:avLst/>
            <a:gdLst/>
            <a:ahLst/>
            <a:cxnLst/>
            <a:rect r="r" b="b" t="t" l="l"/>
            <a:pathLst>
              <a:path h="198726" w="610464">
                <a:moveTo>
                  <a:pt x="0" y="0"/>
                </a:moveTo>
                <a:lnTo>
                  <a:pt x="610464" y="0"/>
                </a:lnTo>
                <a:lnTo>
                  <a:pt x="610464" y="198726"/>
                </a:lnTo>
                <a:lnTo>
                  <a:pt x="0" y="1987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73499" y="1392802"/>
            <a:ext cx="949146" cy="212691"/>
          </a:xfrm>
          <a:custGeom>
            <a:avLst/>
            <a:gdLst/>
            <a:ahLst/>
            <a:cxnLst/>
            <a:rect r="r" b="b" t="t" l="l"/>
            <a:pathLst>
              <a:path h="212691" w="949146">
                <a:moveTo>
                  <a:pt x="0" y="0"/>
                </a:moveTo>
                <a:lnTo>
                  <a:pt x="949146" y="0"/>
                </a:lnTo>
                <a:lnTo>
                  <a:pt x="949146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68639" y="1716093"/>
            <a:ext cx="949146" cy="212691"/>
          </a:xfrm>
          <a:custGeom>
            <a:avLst/>
            <a:gdLst/>
            <a:ahLst/>
            <a:cxnLst/>
            <a:rect r="r" b="b" t="t" l="l"/>
            <a:pathLst>
              <a:path h="212691" w="949146">
                <a:moveTo>
                  <a:pt x="0" y="0"/>
                </a:moveTo>
                <a:lnTo>
                  <a:pt x="949146" y="0"/>
                </a:lnTo>
                <a:lnTo>
                  <a:pt x="949146" y="212690"/>
                </a:lnTo>
                <a:lnTo>
                  <a:pt x="0" y="2126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682663" y="462915"/>
            <a:ext cx="84946" cy="474605"/>
            <a:chOff x="0" y="0"/>
            <a:chExt cx="221488" cy="1237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488" cy="1237488"/>
            </a:xfrm>
            <a:custGeom>
              <a:avLst/>
              <a:gdLst/>
              <a:ahLst/>
              <a:cxnLst/>
              <a:rect r="r" b="b" t="t" l="l"/>
              <a:pathLst>
                <a:path h="1237488" w="221488">
                  <a:moveTo>
                    <a:pt x="0" y="0"/>
                  </a:moveTo>
                  <a:lnTo>
                    <a:pt x="221488" y="0"/>
                  </a:lnTo>
                  <a:lnTo>
                    <a:pt x="221488" y="1237488"/>
                  </a:lnTo>
                  <a:lnTo>
                    <a:pt x="0" y="123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77208" y="1038052"/>
            <a:ext cx="91570" cy="242758"/>
            <a:chOff x="0" y="0"/>
            <a:chExt cx="238760" cy="6329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760" cy="632968"/>
            </a:xfrm>
            <a:custGeom>
              <a:avLst/>
              <a:gdLst/>
              <a:ahLst/>
              <a:cxnLst/>
              <a:rect r="r" b="b" t="t" l="l"/>
              <a:pathLst>
                <a:path h="632968" w="238760">
                  <a:moveTo>
                    <a:pt x="0" y="0"/>
                  </a:moveTo>
                  <a:lnTo>
                    <a:pt x="238760" y="0"/>
                  </a:lnTo>
                  <a:lnTo>
                    <a:pt x="238760" y="632968"/>
                  </a:lnTo>
                  <a:lnTo>
                    <a:pt x="0" y="632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85001" y="1325620"/>
            <a:ext cx="93908" cy="375242"/>
            <a:chOff x="0" y="0"/>
            <a:chExt cx="244856" cy="978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856" cy="978408"/>
            </a:xfrm>
            <a:custGeom>
              <a:avLst/>
              <a:gdLst/>
              <a:ahLst/>
              <a:cxnLst/>
              <a:rect r="r" b="b" t="t" l="l"/>
              <a:pathLst>
                <a:path h="978408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978408"/>
                  </a:lnTo>
                  <a:lnTo>
                    <a:pt x="0" y="97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91236" y="1768273"/>
            <a:ext cx="91570" cy="193661"/>
            <a:chOff x="0" y="0"/>
            <a:chExt cx="238760" cy="504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8760" cy="504952"/>
            </a:xfrm>
            <a:custGeom>
              <a:avLst/>
              <a:gdLst/>
              <a:ahLst/>
              <a:cxnLst/>
              <a:rect r="r" b="b" t="t" l="l"/>
              <a:pathLst>
                <a:path h="504952" w="238760">
                  <a:moveTo>
                    <a:pt x="0" y="0"/>
                  </a:moveTo>
                  <a:lnTo>
                    <a:pt x="238760" y="0"/>
                  </a:lnTo>
                  <a:lnTo>
                    <a:pt x="238760" y="504952"/>
                  </a:lnTo>
                  <a:lnTo>
                    <a:pt x="0" y="504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51243" y="2007524"/>
            <a:ext cx="93908" cy="1282368"/>
            <a:chOff x="0" y="0"/>
            <a:chExt cx="244856" cy="33436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3343656"/>
            </a:xfrm>
            <a:custGeom>
              <a:avLst/>
              <a:gdLst/>
              <a:ahLst/>
              <a:cxnLst/>
              <a:rect r="r" b="b" t="t" l="l"/>
              <a:pathLst>
                <a:path h="33436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3343656"/>
                  </a:lnTo>
                  <a:lnTo>
                    <a:pt x="0" y="3343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970587" y="2571394"/>
            <a:ext cx="1074485" cy="212691"/>
          </a:xfrm>
          <a:custGeom>
            <a:avLst/>
            <a:gdLst/>
            <a:ahLst/>
            <a:cxnLst/>
            <a:rect r="r" b="b" t="t" l="l"/>
            <a:pathLst>
              <a:path h="212691" w="1074485">
                <a:moveTo>
                  <a:pt x="0" y="0"/>
                </a:moveTo>
                <a:lnTo>
                  <a:pt x="1074485" y="0"/>
                </a:lnTo>
                <a:lnTo>
                  <a:pt x="1074485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313401" y="3141432"/>
            <a:ext cx="91570" cy="193661"/>
            <a:chOff x="0" y="0"/>
            <a:chExt cx="238760" cy="5049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8760" cy="504952"/>
            </a:xfrm>
            <a:custGeom>
              <a:avLst/>
              <a:gdLst/>
              <a:ahLst/>
              <a:cxnLst/>
              <a:rect r="r" b="b" t="t" l="l"/>
              <a:pathLst>
                <a:path h="504952" w="238760">
                  <a:moveTo>
                    <a:pt x="0" y="0"/>
                  </a:moveTo>
                  <a:lnTo>
                    <a:pt x="238760" y="0"/>
                  </a:lnTo>
                  <a:lnTo>
                    <a:pt x="238760" y="504952"/>
                  </a:lnTo>
                  <a:lnTo>
                    <a:pt x="0" y="504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612828" y="3110293"/>
            <a:ext cx="652353" cy="345175"/>
          </a:xfrm>
          <a:custGeom>
            <a:avLst/>
            <a:gdLst/>
            <a:ahLst/>
            <a:cxnLst/>
            <a:rect r="r" b="b" t="t" l="l"/>
            <a:pathLst>
              <a:path h="345175" w="652353">
                <a:moveTo>
                  <a:pt x="0" y="0"/>
                </a:moveTo>
                <a:lnTo>
                  <a:pt x="652353" y="0"/>
                </a:lnTo>
                <a:lnTo>
                  <a:pt x="652353" y="345175"/>
                </a:lnTo>
                <a:lnTo>
                  <a:pt x="0" y="34517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790209" y="3423545"/>
            <a:ext cx="93908" cy="375242"/>
            <a:chOff x="0" y="0"/>
            <a:chExt cx="244856" cy="978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978408"/>
            </a:xfrm>
            <a:custGeom>
              <a:avLst/>
              <a:gdLst/>
              <a:ahLst/>
              <a:cxnLst/>
              <a:rect r="r" b="b" t="t" l="l"/>
              <a:pathLst>
                <a:path h="978408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978408"/>
                  </a:lnTo>
                  <a:lnTo>
                    <a:pt x="0" y="97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3313240" y="3778753"/>
            <a:ext cx="610464" cy="212691"/>
          </a:xfrm>
          <a:custGeom>
            <a:avLst/>
            <a:gdLst/>
            <a:ahLst/>
            <a:cxnLst/>
            <a:rect r="r" b="b" t="t" l="l"/>
            <a:pathLst>
              <a:path h="212691" w="610464">
                <a:moveTo>
                  <a:pt x="0" y="0"/>
                </a:moveTo>
                <a:lnTo>
                  <a:pt x="610465" y="0"/>
                </a:lnTo>
                <a:lnTo>
                  <a:pt x="610465" y="212691"/>
                </a:lnTo>
                <a:lnTo>
                  <a:pt x="0" y="2126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481442" y="4416216"/>
            <a:ext cx="1119944" cy="226650"/>
          </a:xfrm>
          <a:custGeom>
            <a:avLst/>
            <a:gdLst/>
            <a:ahLst/>
            <a:cxnLst/>
            <a:rect r="r" b="b" t="t" l="l"/>
            <a:pathLst>
              <a:path h="226650" w="1119944">
                <a:moveTo>
                  <a:pt x="0" y="0"/>
                </a:moveTo>
                <a:lnTo>
                  <a:pt x="1119943" y="0"/>
                </a:lnTo>
                <a:lnTo>
                  <a:pt x="1119943" y="226650"/>
                </a:lnTo>
                <a:lnTo>
                  <a:pt x="0" y="22665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509044" y="4034175"/>
            <a:ext cx="1053702" cy="226650"/>
          </a:xfrm>
          <a:custGeom>
            <a:avLst/>
            <a:gdLst/>
            <a:ahLst/>
            <a:cxnLst/>
            <a:rect r="r" b="b" t="t" l="l"/>
            <a:pathLst>
              <a:path h="226650" w="1053702">
                <a:moveTo>
                  <a:pt x="0" y="0"/>
                </a:moveTo>
                <a:lnTo>
                  <a:pt x="1053702" y="0"/>
                </a:lnTo>
                <a:lnTo>
                  <a:pt x="1053702" y="226650"/>
                </a:lnTo>
                <a:lnTo>
                  <a:pt x="0" y="22665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234784" y="3772256"/>
            <a:ext cx="610464" cy="212691"/>
          </a:xfrm>
          <a:custGeom>
            <a:avLst/>
            <a:gdLst/>
            <a:ahLst/>
            <a:cxnLst/>
            <a:rect r="r" b="b" t="t" l="l"/>
            <a:pathLst>
              <a:path h="212691" w="610464">
                <a:moveTo>
                  <a:pt x="0" y="0"/>
                </a:moveTo>
                <a:lnTo>
                  <a:pt x="610464" y="0"/>
                </a:lnTo>
                <a:lnTo>
                  <a:pt x="610464" y="212690"/>
                </a:lnTo>
                <a:lnTo>
                  <a:pt x="0" y="212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033907" y="3422020"/>
            <a:ext cx="949146" cy="341926"/>
          </a:xfrm>
          <a:custGeom>
            <a:avLst/>
            <a:gdLst/>
            <a:ahLst/>
            <a:cxnLst/>
            <a:rect r="r" b="b" t="t" l="l"/>
            <a:pathLst>
              <a:path h="341926" w="949146">
                <a:moveTo>
                  <a:pt x="0" y="0"/>
                </a:moveTo>
                <a:lnTo>
                  <a:pt x="949146" y="0"/>
                </a:lnTo>
                <a:lnTo>
                  <a:pt x="949146" y="341926"/>
                </a:lnTo>
                <a:lnTo>
                  <a:pt x="0" y="34192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052485" y="464218"/>
            <a:ext cx="12036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24443" y="478503"/>
            <a:ext cx="377263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EXCEL \ DB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11749" y="480062"/>
            <a:ext cx="355004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\ API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64175" y="654371"/>
            <a:ext cx="421489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Manufacturer Data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82397" y="654371"/>
            <a:ext cx="295055" cy="13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Reseller Data • Reseller ID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93825" y="654371"/>
            <a:ext cx="453208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Reseller Ads/Listings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22624" y="727800"/>
            <a:ext cx="154237" cy="18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SKU • MAP • LPP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69172" y="718275"/>
            <a:ext cx="136040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SKU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87853" y="790925"/>
            <a:ext cx="181386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Name • Email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59040" y="781400"/>
            <a:ext cx="400745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Advertised Price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69951" y="844525"/>
            <a:ext cx="151938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Date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239497" y="905852"/>
            <a:ext cx="1020176" cy="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─────────────────┼──────────────────┘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83709" y="975450"/>
            <a:ext cx="605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59018" y="1074681"/>
            <a:ext cx="297174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509921" y="1229508"/>
            <a:ext cx="428571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Extract / Load data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721116" y="1292633"/>
            <a:ext cx="61323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566811" y="1355758"/>
            <a:ext cx="455789" cy="13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SKU validation </a:t>
            </a:r>
          </a:p>
          <a:p>
            <a:pPr algn="l">
              <a:lnSpc>
                <a:spcPts val="503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Remove duplicates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55121" y="1482787"/>
            <a:ext cx="523268" cy="13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Handle missing values • Standardize prices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43432" y="1610010"/>
            <a:ext cx="47389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Standardize reseller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732806" y="1673135"/>
            <a:ext cx="61323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97946" y="1800164"/>
            <a:ext cx="907297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Join different tables to create unique key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43432" y="1863289"/>
            <a:ext cx="37630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Reseller ID + SKU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07088" y="1927193"/>
            <a:ext cx="61323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426534" y="1990317"/>
            <a:ext cx="661588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 Advertised Price &lt; MAP? 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345485" y="2063747"/>
            <a:ext cx="81220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↓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34597" y="2063747"/>
            <a:ext cx="87552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↓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181073" y="2180471"/>
            <a:ext cx="4778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Compliant with Policy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987838" y="2180471"/>
            <a:ext cx="322842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 Price &lt; LPP?</a:t>
            </a: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046287" y="2244375"/>
            <a:ext cx="605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870940" y="2307500"/>
            <a:ext cx="81249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233323" y="2317025"/>
            <a:ext cx="87552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↓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859250" y="2370625"/>
            <a:ext cx="605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578501" y="2434529"/>
            <a:ext cx="473280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 details for Log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147598" y="2444054"/>
            <a:ext cx="295021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LPP Violation ↓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987838" y="2561558"/>
            <a:ext cx="523955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 Violation History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011217" y="2624682"/>
            <a:ext cx="401222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 Reseller + SKU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221633" y="2687934"/>
            <a:ext cx="59730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022907" y="2751838"/>
            <a:ext cx="548547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\ Second Violation?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952768" y="2814963"/>
            <a:ext cx="88302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455429" y="2814963"/>
            <a:ext cx="85964" cy="13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↓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987838" y="2878867"/>
            <a:ext cx="60451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835871" y="2941992"/>
            <a:ext cx="382343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WARNING EMAIL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327620" y="2941992"/>
            <a:ext cx="287008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AGREEMENT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38531" y="3005116"/>
            <a:ext cx="248875" cy="13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VIOLATION ↓ 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847560" y="3069020"/>
            <a:ext cx="60451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531742" y="3141670"/>
            <a:ext cx="560719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 MAP policy warning E-mail for specific SKU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221633" y="3132145"/>
            <a:ext cx="563832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 agreement violation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209164" y="3195270"/>
            <a:ext cx="483547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E-mail and ask to stop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233323" y="3259174"/>
            <a:ext cx="417437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selling specific SKU 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522390" y="3319727"/>
            <a:ext cx="1047199" cy="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┌──────────────────┴─────────────────┐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522390" y="3390100"/>
            <a:ext cx="60451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502188" y="3390100"/>
            <a:ext cx="605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391464" y="3453224"/>
            <a:ext cx="299156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Excel Reports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396980" y="3462749"/>
            <a:ext cx="245841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Power BI Dashboard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414844" y="3580253"/>
            <a:ext cx="315877" cy="19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Violations </a:t>
            </a:r>
          </a:p>
          <a:p>
            <a:pPr algn="l">
              <a:lnSpc>
                <a:spcPts val="501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Resellers </a:t>
            </a:r>
          </a:p>
          <a:p>
            <a:pPr algn="l">
              <a:lnSpc>
                <a:spcPts val="501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SKU analysis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455429" y="3589778"/>
            <a:ext cx="342881" cy="12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Trends </a:t>
            </a:r>
          </a:p>
          <a:p>
            <a:pPr algn="l">
              <a:lnSpc>
                <a:spcPts val="497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Top offenders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444518" y="3707282"/>
            <a:ext cx="315877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SKU analysis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523169" y="3821515"/>
            <a:ext cx="212637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EXCEL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375938" y="3814501"/>
            <a:ext cx="352754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POWER BI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4011217" y="3970107"/>
            <a:ext cx="60524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 spc="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643184" y="4076352"/>
            <a:ext cx="820223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 &amp; REFINEMENT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987838" y="4287290"/>
            <a:ext cx="59730" cy="6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"/>
              </a:lnSpc>
            </a:pPr>
            <a:r>
              <a:rPr lang="en-US" sz="4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696960" y="3167994"/>
            <a:ext cx="487079" cy="21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"/>
              </a:lnSpc>
            </a:pPr>
            <a:r>
              <a:rPr lang="en-US" b="true" sz="4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AUTOMATION CANBE IMPLEMENTED ONLY AFTER APPROVAL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3565252" y="4458973"/>
            <a:ext cx="949794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 &amp; HANDOVER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957436" y="605532"/>
            <a:ext cx="512397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025237" y="1066888"/>
            <a:ext cx="514978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LOADING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053292" y="1758338"/>
            <a:ext cx="662036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INTEGRATION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958215" y="1434726"/>
            <a:ext cx="775709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PRE-PROCESSING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117976" y="3464392"/>
            <a:ext cx="798441" cy="22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 VIOLATION HISTORY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054851" y="2614156"/>
            <a:ext cx="917993" cy="11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b="true" sz="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 \ LPP DECISION LOGIC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DAHVHTAEEhA</dc:identifier>
  <dcterms:modified xsi:type="dcterms:W3CDTF">2011-08-01T06:04:30Z</dcterms:modified>
  <cp:revision>1</cp:revision>
  <dc:title>Data Sources → Data Collection → Cleaning &amp; Integration → MAP/LPPAnalysis Violation Tracking → Email Action→ Excel Reporting → Power BI Dashboard</dc:title>
</cp:coreProperties>
</file>